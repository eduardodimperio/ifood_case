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6858000" cx="1218895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1" roundtripDataSignature="AMtx7mj+HsZ6LIKs+uj9mC+zksQhJz0Xy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customschemas.google.com/relationships/presentationmetadata" Target="metadata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EA1D2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411480" y="548640"/>
            <a:ext cx="4114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iFood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411480" y="1417320"/>
            <a:ext cx="41148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Distribuição Inteligente</a:t>
            </a:r>
            <a:br>
              <a:rPr b="0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 Cupons e Ofertas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411480" y="3108960"/>
            <a:ext cx="4114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Case Técnico · Data Science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411480" y="61264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Eduardo Dimperio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5303520" y="731520"/>
            <a:ext cx="6400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EA1D2C"/>
                </a:solidFill>
                <a:latin typeface="Calibri"/>
                <a:ea typeface="Calibri"/>
                <a:cs typeface="Calibri"/>
                <a:sym typeface="Calibri"/>
              </a:rPr>
              <a:t>O Desafio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5303520" y="1508760"/>
            <a:ext cx="649224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●  17.000 clientes com perfis muito distintos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●  10 ofertas de tipos diferentes (BOGO, desconto, informacional)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●  Múltiplos canais de marketing (e-mail, mobile, social, web)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●  Hoje: distribuição aleatória ou regras manuais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●  Oportunidade: distribuição personalizada = mais conversões com menos custo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5303520" y="5943600"/>
            <a:ext cx="6492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95A5A6"/>
                </a:solidFill>
                <a:latin typeface="Calibri"/>
                <a:ea typeface="Calibri"/>
                <a:cs typeface="Calibri"/>
                <a:sym typeface="Calibri"/>
              </a:rPr>
              <a:t>📊 Dados disponíveis: 300k eventos · 17k clientes · histórico de 30 dias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EA1D2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365760" y="91440"/>
            <a:ext cx="10972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 Que os Dados Revelam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365760" y="713232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Análise exploratória: padrões de conversão identificados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C2C2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274320" y="6592824"/>
            <a:ext cx="1188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5A5A6"/>
                </a:solidFill>
                <a:latin typeface="Calibri"/>
                <a:ea typeface="Calibri"/>
                <a:cs typeface="Calibri"/>
                <a:sym typeface="Calibri"/>
              </a:rPr>
              <a:t>iFood — Case Técnico Data Science | Confidencial</a:t>
            </a:r>
            <a:endParaRPr/>
          </a:p>
        </p:txBody>
      </p:sp>
      <p:pic>
        <p:nvPicPr>
          <p:cNvPr descr="eda_conversion_rates.png" id="103" name="Google Shape;10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280160"/>
            <a:ext cx="7315200" cy="2524317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"/>
          <p:cNvSpPr txBox="1"/>
          <p:nvPr/>
        </p:nvSpPr>
        <p:spPr>
          <a:xfrm>
            <a:off x="7863840" y="123444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Insights-Chave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7863840" y="1737360"/>
            <a:ext cx="402336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●  Ofertas informacionais convertem +28% mais que BOGO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●  Canal social tem melhor taxa p/ descontos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●  Clientes 40–60 anos são mais responsivos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●  Ticket médio: R$ 12 — limite mínimo das ofertas compatível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●  Perfis incompletos (~30%) têm comportamento distinto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EA1D2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 txBox="1"/>
          <p:nvPr/>
        </p:nvSpPr>
        <p:spPr>
          <a:xfrm>
            <a:off x="365760" y="91440"/>
            <a:ext cx="10972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Solução: Modelo de Recomendação Personalizado</a:t>
            </a:r>
            <a:endParaRPr/>
          </a:p>
        </p:txBody>
      </p:sp>
      <p:sp>
        <p:nvSpPr>
          <p:cNvPr id="112" name="Google Shape;112;p3"/>
          <p:cNvSpPr txBox="1"/>
          <p:nvPr/>
        </p:nvSpPr>
        <p:spPr>
          <a:xfrm>
            <a:off x="365760" y="713232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Para cada cliente → oferta com maior lucro esperado</a:t>
            </a:r>
            <a:endParaRPr/>
          </a:p>
        </p:txBody>
      </p:sp>
      <p:sp>
        <p:nvSpPr>
          <p:cNvPr id="113" name="Google Shape;113;p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C2C2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274320" y="6592824"/>
            <a:ext cx="1188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5A5A6"/>
                </a:solidFill>
                <a:latin typeface="Calibri"/>
                <a:ea typeface="Calibri"/>
                <a:cs typeface="Calibri"/>
                <a:sym typeface="Calibri"/>
              </a:rPr>
              <a:t>iFood — Case Técnico Data Science | Confidencial</a:t>
            </a:r>
            <a:endParaRPr/>
          </a:p>
        </p:txBody>
      </p:sp>
      <p:sp>
        <p:nvSpPr>
          <p:cNvPr id="115" name="Google Shape;115;p3"/>
          <p:cNvSpPr/>
          <p:nvPr/>
        </p:nvSpPr>
        <p:spPr>
          <a:xfrm>
            <a:off x="6878004" y="1445725"/>
            <a:ext cx="2132700" cy="1904400"/>
          </a:xfrm>
          <a:prstGeom prst="rect">
            <a:avLst/>
          </a:prstGeom>
          <a:solidFill>
            <a:srgbClr val="3498DB"/>
          </a:solidFill>
          <a:ln>
            <a:noFill/>
          </a:ln>
          <a:effectLst>
            <a:outerShdw blurRad="33321" rotWithShape="0" dir="5400000" dist="19160">
              <a:srgbClr val="000000">
                <a:alpha val="34901"/>
              </a:srgbClr>
            </a:outerShdw>
          </a:effectLst>
        </p:spPr>
        <p:txBody>
          <a:bodyPr anchorCtr="0" anchor="ctr" bIns="38075" lIns="76150" spcFirstLastPara="1" rIns="76150" wrap="square" tIns="380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3"/>
          <p:cNvSpPr txBox="1"/>
          <p:nvPr/>
        </p:nvSpPr>
        <p:spPr>
          <a:xfrm>
            <a:off x="6992262" y="1521897"/>
            <a:ext cx="1904400" cy="269100"/>
          </a:xfrm>
          <a:prstGeom prst="rect">
            <a:avLst/>
          </a:prstGeom>
          <a:noFill/>
          <a:ln>
            <a:noFill/>
          </a:ln>
        </p:spPr>
        <p:txBody>
          <a:bodyPr anchorCtr="0" anchor="t" bIns="38075" lIns="76150" spcFirstLastPara="1" rIns="76150" wrap="square" tIns="380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1. Dados</a:t>
            </a:r>
            <a:endParaRPr sz="1166"/>
          </a:p>
        </p:txBody>
      </p:sp>
      <p:sp>
        <p:nvSpPr>
          <p:cNvPr id="117" name="Google Shape;117;p3"/>
          <p:cNvSpPr/>
          <p:nvPr/>
        </p:nvSpPr>
        <p:spPr>
          <a:xfrm>
            <a:off x="6954176" y="1978929"/>
            <a:ext cx="1980600" cy="1294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3321" rotWithShape="0" dir="5400000" dist="19160">
              <a:srgbClr val="000000">
                <a:alpha val="34901"/>
              </a:srgbClr>
            </a:outerShdw>
          </a:effectLst>
        </p:spPr>
        <p:txBody>
          <a:bodyPr anchorCtr="0" anchor="ctr" bIns="38075" lIns="76150" spcFirstLastPara="1" rIns="76150" wrap="square" tIns="380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7030348" y="2055101"/>
            <a:ext cx="1828200" cy="5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8075" lIns="76150" spcFirstLastPara="1" rIns="76150" wrap="square" tIns="380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Perfil do cliente</a:t>
            </a:r>
            <a:b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Histórico de compras</a:t>
            </a:r>
            <a:b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Metadados das ofertas</a:t>
            </a:r>
            <a:endParaRPr sz="1166"/>
          </a:p>
        </p:txBody>
      </p:sp>
      <p:sp>
        <p:nvSpPr>
          <p:cNvPr id="119" name="Google Shape;119;p3"/>
          <p:cNvSpPr/>
          <p:nvPr/>
        </p:nvSpPr>
        <p:spPr>
          <a:xfrm>
            <a:off x="9652716" y="1445725"/>
            <a:ext cx="2132700" cy="1904400"/>
          </a:xfrm>
          <a:prstGeom prst="rect">
            <a:avLst/>
          </a:prstGeom>
          <a:solidFill>
            <a:srgbClr val="EA1D2C"/>
          </a:solidFill>
          <a:ln>
            <a:noFill/>
          </a:ln>
          <a:effectLst>
            <a:outerShdw blurRad="33321" rotWithShape="0" dir="5400000" dist="19160">
              <a:srgbClr val="000000">
                <a:alpha val="34901"/>
              </a:srgbClr>
            </a:outerShdw>
          </a:effectLst>
        </p:spPr>
        <p:txBody>
          <a:bodyPr anchorCtr="0" anchor="ctr" bIns="38075" lIns="76150" spcFirstLastPara="1" rIns="76150" wrap="square" tIns="380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 txBox="1"/>
          <p:nvPr/>
        </p:nvSpPr>
        <p:spPr>
          <a:xfrm>
            <a:off x="9766974" y="1521897"/>
            <a:ext cx="1904400" cy="269100"/>
          </a:xfrm>
          <a:prstGeom prst="rect">
            <a:avLst/>
          </a:prstGeom>
          <a:noFill/>
          <a:ln>
            <a:noFill/>
          </a:ln>
        </p:spPr>
        <p:txBody>
          <a:bodyPr anchorCtr="0" anchor="t" bIns="38075" lIns="76150" spcFirstLastPara="1" rIns="76150" wrap="square" tIns="380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2. Modelo</a:t>
            </a:r>
            <a:endParaRPr sz="1166"/>
          </a:p>
        </p:txBody>
      </p:sp>
      <p:sp>
        <p:nvSpPr>
          <p:cNvPr id="121" name="Google Shape;121;p3"/>
          <p:cNvSpPr/>
          <p:nvPr/>
        </p:nvSpPr>
        <p:spPr>
          <a:xfrm>
            <a:off x="9728888" y="1978929"/>
            <a:ext cx="1980600" cy="1294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3321" rotWithShape="0" dir="5400000" dist="19160">
              <a:srgbClr val="000000">
                <a:alpha val="34901"/>
              </a:srgbClr>
            </a:outerShdw>
          </a:effectLst>
        </p:spPr>
        <p:txBody>
          <a:bodyPr anchorCtr="0" anchor="ctr" bIns="38075" lIns="76150" spcFirstLastPara="1" rIns="76150" wrap="square" tIns="380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9805060" y="2055101"/>
            <a:ext cx="1828200" cy="5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8075" lIns="76150" spcFirstLastPara="1" rIns="76150" wrap="square" tIns="380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LightGBM</a:t>
            </a:r>
            <a:b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Classificação binária</a:t>
            </a:r>
            <a:b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AUC = 0.92</a:t>
            </a:r>
            <a:endParaRPr sz="1166"/>
          </a:p>
        </p:txBody>
      </p:sp>
      <p:sp>
        <p:nvSpPr>
          <p:cNvPr id="123" name="Google Shape;123;p3"/>
          <p:cNvSpPr txBox="1"/>
          <p:nvPr/>
        </p:nvSpPr>
        <p:spPr>
          <a:xfrm>
            <a:off x="8151999" y="3350131"/>
            <a:ext cx="213300" cy="256500"/>
          </a:xfrm>
          <a:prstGeom prst="rect">
            <a:avLst/>
          </a:prstGeom>
          <a:noFill/>
          <a:ln>
            <a:noFill/>
          </a:ln>
        </p:spPr>
        <p:txBody>
          <a:bodyPr anchorCtr="0" anchor="t" bIns="38075" lIns="76150" spcFirstLastPara="1" rIns="76150" wrap="square" tIns="380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66"/>
          </a:p>
        </p:txBody>
      </p:sp>
      <p:sp>
        <p:nvSpPr>
          <p:cNvPr id="124" name="Google Shape;124;p3"/>
          <p:cNvSpPr/>
          <p:nvPr/>
        </p:nvSpPr>
        <p:spPr>
          <a:xfrm>
            <a:off x="6878966" y="3870942"/>
            <a:ext cx="2132700" cy="1904400"/>
          </a:xfrm>
          <a:prstGeom prst="rect">
            <a:avLst/>
          </a:prstGeom>
          <a:solidFill>
            <a:srgbClr val="27AE60"/>
          </a:solidFill>
          <a:ln>
            <a:noFill/>
          </a:ln>
          <a:effectLst>
            <a:outerShdw blurRad="33321" rotWithShape="0" dir="5400000" dist="19160">
              <a:srgbClr val="000000">
                <a:alpha val="34901"/>
              </a:srgbClr>
            </a:outerShdw>
          </a:effectLst>
        </p:spPr>
        <p:txBody>
          <a:bodyPr anchorCtr="0" anchor="ctr" bIns="38075" lIns="76150" spcFirstLastPara="1" rIns="76150" wrap="square" tIns="380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6993224" y="3947114"/>
            <a:ext cx="1904400" cy="269100"/>
          </a:xfrm>
          <a:prstGeom prst="rect">
            <a:avLst/>
          </a:prstGeom>
          <a:noFill/>
          <a:ln>
            <a:noFill/>
          </a:ln>
        </p:spPr>
        <p:txBody>
          <a:bodyPr anchorCtr="0" anchor="t" bIns="38075" lIns="76150" spcFirstLastPara="1" rIns="76150" wrap="square" tIns="380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3. Score</a:t>
            </a:r>
            <a:endParaRPr sz="1166"/>
          </a:p>
        </p:txBody>
      </p:sp>
      <p:sp>
        <p:nvSpPr>
          <p:cNvPr id="126" name="Google Shape;126;p3"/>
          <p:cNvSpPr/>
          <p:nvPr/>
        </p:nvSpPr>
        <p:spPr>
          <a:xfrm>
            <a:off x="6955137" y="4404146"/>
            <a:ext cx="1980600" cy="1294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3321" rotWithShape="0" dir="5400000" dist="19160">
              <a:srgbClr val="000000">
                <a:alpha val="34901"/>
              </a:srgbClr>
            </a:outerShdw>
          </a:effectLst>
        </p:spPr>
        <p:txBody>
          <a:bodyPr anchorCtr="0" anchor="ctr" bIns="38075" lIns="76150" spcFirstLastPara="1" rIns="76150" wrap="square" tIns="380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7031310" y="4480318"/>
            <a:ext cx="1828200" cy="5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38075" lIns="76150" spcFirstLastPara="1" rIns="76150" wrap="square" tIns="380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P(conversão)</a:t>
            </a:r>
            <a:b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por par</a:t>
            </a:r>
            <a:b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(cliente × oferta)</a:t>
            </a:r>
            <a:endParaRPr sz="1166"/>
          </a:p>
        </p:txBody>
      </p:sp>
      <p:sp>
        <p:nvSpPr>
          <p:cNvPr id="128" name="Google Shape;128;p3"/>
          <p:cNvSpPr txBox="1"/>
          <p:nvPr/>
        </p:nvSpPr>
        <p:spPr>
          <a:xfrm>
            <a:off x="9462287" y="4594562"/>
            <a:ext cx="213300" cy="256500"/>
          </a:xfrm>
          <a:prstGeom prst="rect">
            <a:avLst/>
          </a:prstGeom>
          <a:noFill/>
          <a:ln>
            <a:noFill/>
          </a:ln>
        </p:spPr>
        <p:txBody>
          <a:bodyPr anchorCtr="0" anchor="t" bIns="38075" lIns="76150" spcFirstLastPara="1" rIns="76150" wrap="square" tIns="380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66"/>
          </a:p>
        </p:txBody>
      </p:sp>
      <p:sp>
        <p:nvSpPr>
          <p:cNvPr id="129" name="Google Shape;129;p3"/>
          <p:cNvSpPr/>
          <p:nvPr/>
        </p:nvSpPr>
        <p:spPr>
          <a:xfrm>
            <a:off x="9652716" y="3870928"/>
            <a:ext cx="2132700" cy="1904400"/>
          </a:xfrm>
          <a:prstGeom prst="rect">
            <a:avLst/>
          </a:prstGeom>
          <a:solidFill>
            <a:srgbClr val="2C2C2C"/>
          </a:solidFill>
          <a:ln>
            <a:noFill/>
          </a:ln>
          <a:effectLst>
            <a:outerShdw blurRad="33321" rotWithShape="0" dir="5400000" dist="19160">
              <a:srgbClr val="000000">
                <a:alpha val="34901"/>
              </a:srgbClr>
            </a:outerShdw>
          </a:effectLst>
        </p:spPr>
        <p:txBody>
          <a:bodyPr anchorCtr="0" anchor="ctr" bIns="38075" lIns="76150" spcFirstLastPara="1" rIns="76150" wrap="square" tIns="380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9766974" y="3947100"/>
            <a:ext cx="1904400" cy="269100"/>
          </a:xfrm>
          <a:prstGeom prst="rect">
            <a:avLst/>
          </a:prstGeom>
          <a:noFill/>
          <a:ln>
            <a:noFill/>
          </a:ln>
        </p:spPr>
        <p:txBody>
          <a:bodyPr anchorCtr="0" anchor="t" bIns="38075" lIns="76150" spcFirstLastPara="1" rIns="76150" wrap="square" tIns="380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4. Decisão</a:t>
            </a:r>
            <a:endParaRPr sz="1166"/>
          </a:p>
        </p:txBody>
      </p:sp>
      <p:sp>
        <p:nvSpPr>
          <p:cNvPr id="131" name="Google Shape;131;p3"/>
          <p:cNvSpPr/>
          <p:nvPr/>
        </p:nvSpPr>
        <p:spPr>
          <a:xfrm>
            <a:off x="9728888" y="4404132"/>
            <a:ext cx="1980600" cy="1294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3321" rotWithShape="0" dir="5400000" dist="19160">
              <a:srgbClr val="000000">
                <a:alpha val="34901"/>
              </a:srgbClr>
            </a:outerShdw>
          </a:effectLst>
        </p:spPr>
        <p:txBody>
          <a:bodyPr anchorCtr="0" anchor="ctr" bIns="38075" lIns="76150" spcFirstLastPara="1" rIns="76150" wrap="square" tIns="380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9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9805060" y="4480304"/>
            <a:ext cx="1828200" cy="7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38075" lIns="76150" spcFirstLastPara="1" rIns="76150" wrap="square" tIns="380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Net EV = P × (ticket − desconto)</a:t>
            </a:r>
            <a:b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83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Oferta com maior lucro esperado</a:t>
            </a:r>
            <a:endParaRPr sz="1166"/>
          </a:p>
        </p:txBody>
      </p:sp>
      <p:sp>
        <p:nvSpPr>
          <p:cNvPr id="133" name="Google Shape;133;p3"/>
          <p:cNvSpPr txBox="1"/>
          <p:nvPr/>
        </p:nvSpPr>
        <p:spPr>
          <a:xfrm>
            <a:off x="365753" y="1445725"/>
            <a:ext cx="4683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Principais sinais preditivos identificados:</a:t>
            </a:r>
            <a:endParaRPr/>
          </a:p>
        </p:txBody>
      </p:sp>
      <p:pic>
        <p:nvPicPr>
          <p:cNvPr descr="feature_importance.png" id="134" name="Google Shape;13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30" y="1820278"/>
            <a:ext cx="5943600" cy="414099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"/>
          <p:cNvSpPr txBox="1"/>
          <p:nvPr/>
        </p:nvSpPr>
        <p:spPr>
          <a:xfrm>
            <a:off x="99248" y="6015021"/>
            <a:ext cx="6404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95A5A6"/>
                </a:solidFill>
                <a:latin typeface="Calibri"/>
                <a:ea typeface="Calibri"/>
                <a:cs typeface="Calibri"/>
                <a:sym typeface="Calibri"/>
              </a:rPr>
              <a:t>O modelo aprende: clientes com alto ticket médio preferem BOGO; clientes mais sensíveis ao preço respondem melhor a descontos menores. Isso permite enviar a oferta certa para cada perfil.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4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EA1D2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365760" y="91440"/>
            <a:ext cx="10972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Resultados: Impacto no Negócio</a:t>
            </a:r>
            <a:endParaRPr/>
          </a:p>
        </p:txBody>
      </p:sp>
      <p:sp>
        <p:nvSpPr>
          <p:cNvPr id="143" name="Google Shape;143;p4"/>
          <p:cNvSpPr txBox="1"/>
          <p:nvPr/>
        </p:nvSpPr>
        <p:spPr>
          <a:xfrm>
            <a:off x="365760" y="713232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Comparativo entre estratégias de distribuição de ofertas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C2C2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 txBox="1"/>
          <p:nvPr/>
        </p:nvSpPr>
        <p:spPr>
          <a:xfrm>
            <a:off x="274320" y="6592824"/>
            <a:ext cx="1188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5A5A6"/>
                </a:solidFill>
                <a:latin typeface="Calibri"/>
                <a:ea typeface="Calibri"/>
                <a:cs typeface="Calibri"/>
                <a:sym typeface="Calibri"/>
              </a:rPr>
              <a:t>iFood — Case Técnico Data Science | Confidencial</a:t>
            </a:r>
            <a:endParaRPr/>
          </a:p>
        </p:txBody>
      </p:sp>
      <p:pic>
        <p:nvPicPr>
          <p:cNvPr descr="business_impact.png" id="146" name="Google Shape;14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280160"/>
            <a:ext cx="7772400" cy="2876767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4"/>
          <p:cNvSpPr txBox="1"/>
          <p:nvPr/>
        </p:nvSpPr>
        <p:spPr>
          <a:xfrm>
            <a:off x="8321040" y="128016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Performance do Modelo</a:t>
            </a:r>
            <a:endParaRPr/>
          </a:p>
        </p:txBody>
      </p:sp>
      <p:sp>
        <p:nvSpPr>
          <p:cNvPr id="148" name="Google Shape;148;p4"/>
          <p:cNvSpPr/>
          <p:nvPr/>
        </p:nvSpPr>
        <p:spPr>
          <a:xfrm>
            <a:off x="8321040" y="1828800"/>
            <a:ext cx="3657600" cy="822960"/>
          </a:xfrm>
          <a:prstGeom prst="rect">
            <a:avLst/>
          </a:prstGeom>
          <a:solidFill>
            <a:srgbClr val="27AE6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 txBox="1"/>
          <p:nvPr/>
        </p:nvSpPr>
        <p:spPr>
          <a:xfrm>
            <a:off x="8366760" y="1856231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AUC = 0.92</a:t>
            </a:r>
            <a:endParaRPr/>
          </a:p>
        </p:txBody>
      </p:sp>
      <p:sp>
        <p:nvSpPr>
          <p:cNvPr id="150" name="Google Shape;150;p4"/>
          <p:cNvSpPr txBox="1"/>
          <p:nvPr/>
        </p:nvSpPr>
        <p:spPr>
          <a:xfrm>
            <a:off x="9738360" y="1965960"/>
            <a:ext cx="2194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Alta capacidade de discriminação</a:t>
            </a:r>
            <a:endParaRPr/>
          </a:p>
        </p:txBody>
      </p:sp>
      <p:sp>
        <p:nvSpPr>
          <p:cNvPr id="151" name="Google Shape;151;p4"/>
          <p:cNvSpPr/>
          <p:nvPr/>
        </p:nvSpPr>
        <p:spPr>
          <a:xfrm>
            <a:off x="8321040" y="2788920"/>
            <a:ext cx="3657600" cy="822960"/>
          </a:xfrm>
          <a:prstGeom prst="rect">
            <a:avLst/>
          </a:prstGeom>
          <a:solidFill>
            <a:srgbClr val="3498D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 txBox="1"/>
          <p:nvPr/>
        </p:nvSpPr>
        <p:spPr>
          <a:xfrm>
            <a:off x="8366760" y="2816351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+16%</a:t>
            </a:r>
            <a:endParaRPr/>
          </a:p>
        </p:txBody>
      </p:sp>
      <p:sp>
        <p:nvSpPr>
          <p:cNvPr id="153" name="Google Shape;153;p4"/>
          <p:cNvSpPr txBox="1"/>
          <p:nvPr/>
        </p:nvSpPr>
        <p:spPr>
          <a:xfrm>
            <a:off x="9738360" y="2926079"/>
            <a:ext cx="2194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 conversão vs distribuição aleatória</a:t>
            </a:r>
            <a:endParaRPr/>
          </a:p>
        </p:txBody>
      </p:sp>
      <p:sp>
        <p:nvSpPr>
          <p:cNvPr id="154" name="Google Shape;154;p4"/>
          <p:cNvSpPr/>
          <p:nvPr/>
        </p:nvSpPr>
        <p:spPr>
          <a:xfrm>
            <a:off x="8321040" y="3749039"/>
            <a:ext cx="3657600" cy="822960"/>
          </a:xfrm>
          <a:prstGeom prst="rect">
            <a:avLst/>
          </a:prstGeom>
          <a:solidFill>
            <a:srgbClr val="EA1D2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4"/>
          <p:cNvSpPr txBox="1"/>
          <p:nvPr/>
        </p:nvSpPr>
        <p:spPr>
          <a:xfrm>
            <a:off x="8366760" y="3776472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+67%</a:t>
            </a:r>
            <a:endParaRPr/>
          </a:p>
        </p:txBody>
      </p:sp>
      <p:sp>
        <p:nvSpPr>
          <p:cNvPr id="156" name="Google Shape;156;p4"/>
          <p:cNvSpPr txBox="1"/>
          <p:nvPr/>
        </p:nvSpPr>
        <p:spPr>
          <a:xfrm>
            <a:off x="9738360" y="3886200"/>
            <a:ext cx="2194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 resultado líquido vs aleatório</a:t>
            </a:r>
            <a:endParaRPr/>
          </a:p>
        </p:txBody>
      </p:sp>
      <p:sp>
        <p:nvSpPr>
          <p:cNvPr id="157" name="Google Shape;157;p4"/>
          <p:cNvSpPr/>
          <p:nvPr/>
        </p:nvSpPr>
        <p:spPr>
          <a:xfrm>
            <a:off x="8321040" y="4709159"/>
            <a:ext cx="3657600" cy="822960"/>
          </a:xfrm>
          <a:prstGeom prst="rect">
            <a:avLst/>
          </a:prstGeom>
          <a:solidFill>
            <a:srgbClr val="2C2C2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"/>
          <p:cNvSpPr txBox="1"/>
          <p:nvPr/>
        </p:nvSpPr>
        <p:spPr>
          <a:xfrm>
            <a:off x="8366760" y="4736592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R$ 45k</a:t>
            </a:r>
            <a:endParaRPr/>
          </a:p>
        </p:txBody>
      </p:sp>
      <p:sp>
        <p:nvSpPr>
          <p:cNvPr id="159" name="Google Shape;159;p4"/>
          <p:cNvSpPr txBox="1"/>
          <p:nvPr/>
        </p:nvSpPr>
        <p:spPr>
          <a:xfrm>
            <a:off x="9738360" y="4846320"/>
            <a:ext cx="21945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 incremento estimado* por ciclo</a:t>
            </a:r>
            <a:endParaRPr/>
          </a:p>
        </p:txBody>
      </p:sp>
      <p:sp>
        <p:nvSpPr>
          <p:cNvPr id="160" name="Google Shape;160;p4"/>
          <p:cNvSpPr txBox="1"/>
          <p:nvPr/>
        </p:nvSpPr>
        <p:spPr>
          <a:xfrm>
            <a:off x="274320" y="6263640"/>
            <a:ext cx="11612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95A5A6"/>
                </a:solidFill>
                <a:latin typeface="Calibri"/>
                <a:ea typeface="Calibri"/>
                <a:cs typeface="Calibri"/>
                <a:sym typeface="Calibri"/>
              </a:rPr>
              <a:t>* Estimativa baseada em ticket médio histórico de R$12. Validação via A/B test recomendada.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5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EA1D2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5"/>
          <p:cNvSpPr txBox="1"/>
          <p:nvPr/>
        </p:nvSpPr>
        <p:spPr>
          <a:xfrm>
            <a:off x="365760" y="91440"/>
            <a:ext cx="10972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Próximos Passos &amp; Roadmap</a:t>
            </a:r>
            <a:endParaRPr/>
          </a:p>
        </p:txBody>
      </p:sp>
      <p:sp>
        <p:nvSpPr>
          <p:cNvPr id="168" name="Google Shape;168;p5"/>
          <p:cNvSpPr txBox="1"/>
          <p:nvPr/>
        </p:nvSpPr>
        <p:spPr>
          <a:xfrm>
            <a:off x="365760" y="713232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 prova de conceito à implementação em produção</a:t>
            </a:r>
            <a:endParaRPr/>
          </a:p>
        </p:txBody>
      </p:sp>
      <p:sp>
        <p:nvSpPr>
          <p:cNvPr id="169" name="Google Shape;169;p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C2C2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274320" y="6592824"/>
            <a:ext cx="1188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5A5A6"/>
                </a:solidFill>
                <a:latin typeface="Calibri"/>
                <a:ea typeface="Calibri"/>
                <a:cs typeface="Calibri"/>
                <a:sym typeface="Calibri"/>
              </a:rPr>
              <a:t>iFood — Case Técnico Data Science | Confidencial</a:t>
            </a:r>
            <a:endParaRPr/>
          </a:p>
        </p:txBody>
      </p:sp>
      <p:sp>
        <p:nvSpPr>
          <p:cNvPr id="171" name="Google Shape;171;p5"/>
          <p:cNvSpPr/>
          <p:nvPr/>
        </p:nvSpPr>
        <p:spPr>
          <a:xfrm>
            <a:off x="320040" y="1325880"/>
            <a:ext cx="3749039" cy="4892040"/>
          </a:xfrm>
          <a:prstGeom prst="rect">
            <a:avLst/>
          </a:prstGeom>
          <a:solidFill>
            <a:srgbClr val="EA1D2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411479" y="1389888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Curto prazo (1–4 semanas)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393192" y="1993392"/>
            <a:ext cx="3602736" cy="417880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5"/>
          <p:cNvSpPr txBox="1"/>
          <p:nvPr/>
        </p:nvSpPr>
        <p:spPr>
          <a:xfrm>
            <a:off x="484632" y="2084831"/>
            <a:ext cx="342900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▸  Teste A/B controlado: grupo controle (aleatório) vs grupo modelo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▸  Definição da métrica de sucesso: GMV incremental por oferta enviada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▸  Validação do lift causal (não apenas correlação)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4297679" y="1325880"/>
            <a:ext cx="3749039" cy="4892040"/>
          </a:xfrm>
          <a:prstGeom prst="rect">
            <a:avLst/>
          </a:prstGeom>
          <a:solidFill>
            <a:srgbClr val="3498D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5"/>
          <p:cNvSpPr txBox="1"/>
          <p:nvPr/>
        </p:nvSpPr>
        <p:spPr>
          <a:xfrm>
            <a:off x="4389119" y="1389888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Médio prazo (1–3 meses)</a:t>
            </a:r>
            <a:endParaRPr/>
          </a:p>
        </p:txBody>
      </p:sp>
      <p:sp>
        <p:nvSpPr>
          <p:cNvPr id="177" name="Google Shape;177;p5"/>
          <p:cNvSpPr/>
          <p:nvPr/>
        </p:nvSpPr>
        <p:spPr>
          <a:xfrm>
            <a:off x="4370831" y="1993392"/>
            <a:ext cx="3602736" cy="417880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5"/>
          <p:cNvSpPr txBox="1"/>
          <p:nvPr/>
        </p:nvSpPr>
        <p:spPr>
          <a:xfrm>
            <a:off x="4462271" y="2084831"/>
            <a:ext cx="342900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▸  Correção do temporal leakage: features calculadas antes do recebimento da oferta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▸  Retraining semanal com dados frescos (dados novos chegam continuamente)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▸  Explorar bandits contextuais (UCB, Thompson Sampling) para exploração/exploitação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8275319" y="1325880"/>
            <a:ext cx="3749039" cy="4892040"/>
          </a:xfrm>
          <a:prstGeom prst="rect">
            <a:avLst/>
          </a:prstGeom>
          <a:solidFill>
            <a:srgbClr val="27AE6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5"/>
          <p:cNvSpPr txBox="1"/>
          <p:nvPr/>
        </p:nvSpPr>
        <p:spPr>
          <a:xfrm>
            <a:off x="8366759" y="1389888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Longo prazo (3–6 meses)</a:t>
            </a:r>
            <a:endParaRPr/>
          </a:p>
        </p:txBody>
      </p:sp>
      <p:sp>
        <p:nvSpPr>
          <p:cNvPr id="181" name="Google Shape;181;p5"/>
          <p:cNvSpPr/>
          <p:nvPr/>
        </p:nvSpPr>
        <p:spPr>
          <a:xfrm>
            <a:off x="8348471" y="1993392"/>
            <a:ext cx="3602736" cy="417880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5"/>
          <p:cNvSpPr txBox="1"/>
          <p:nvPr/>
        </p:nvSpPr>
        <p:spPr>
          <a:xfrm>
            <a:off x="8439911" y="2084831"/>
            <a:ext cx="342900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▸  Pipeline real-time: scoring on-demand ao enviar oferta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▸  Otimização de budget: alocação de orçamento de desconto por segmento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▸  Modelo causal (uplift modeling) para identificar clientes genuinamente incremetais</a:t>
            </a:r>
            <a:endParaRPr/>
          </a:p>
        </p:txBody>
      </p:sp>
      <p:sp>
        <p:nvSpPr>
          <p:cNvPr id="183" name="Google Shape;183;p5"/>
          <p:cNvSpPr txBox="1"/>
          <p:nvPr/>
        </p:nvSpPr>
        <p:spPr>
          <a:xfrm>
            <a:off x="548640" y="6217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2C2C2C"/>
                </a:solidFill>
                <a:latin typeface="Calibri"/>
                <a:ea typeface="Calibri"/>
                <a:cs typeface="Calibri"/>
                <a:sym typeface="Calibri"/>
              </a:rPr>
              <a:t>"A verdadeira vantagem competitiva está em aprender continuamente o que funciona para cada cliente — e agir mais rápido que o mercado."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